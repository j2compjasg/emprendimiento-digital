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606" autoAdjust="0"/>
    <p:restoredTop sz="86375" autoAdjust="0"/>
  </p:normalViewPr>
  <p:slideViewPr>
    <p:cSldViewPr snapToGrid="0">
      <p:cViewPr varScale="1">
        <p:scale>
          <a:sx n="80" d="100"/>
          <a:sy n="80" d="100"/>
        </p:scale>
        <p:origin x="114" y="33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7/30/2021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7/30/2021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7/30/2021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7/30/2021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7/30/2021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7/30/2021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7/30/2021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7/30/2021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3D76F2-D307-4D03-BC71-5E6FA0555FFD}"/>
              </a:ext>
            </a:extLst>
          </p:cNvPr>
          <p:cNvSpPr>
            <a:spLocks noGrp="1"/>
          </p:cNvSpPr>
          <p:nvPr>
            <p:ph type="ctrTitle"/>
          </p:nvPr>
        </p:nvSpPr>
        <p:spPr/>
        <p:txBody>
          <a:bodyPr/>
          <a:lstStyle/>
          <a:p>
            <a:r>
              <a:rPr lang="es-MX" dirty="0"/>
              <a:t>Curso de emprendimiento digital	</a:t>
            </a:r>
            <a:endParaRPr lang="es-CL" dirty="0"/>
          </a:p>
        </p:txBody>
      </p:sp>
      <p:sp>
        <p:nvSpPr>
          <p:cNvPr id="3" name="Subtítulo 2">
            <a:extLst>
              <a:ext uri="{FF2B5EF4-FFF2-40B4-BE49-F238E27FC236}">
                <a16:creationId xmlns:a16="http://schemas.microsoft.com/office/drawing/2014/main" id="{EC4C054B-B4AC-42DB-BA3C-4399B9732ECB}"/>
              </a:ext>
            </a:extLst>
          </p:cNvPr>
          <p:cNvSpPr>
            <a:spLocks noGrp="1"/>
          </p:cNvSpPr>
          <p:nvPr>
            <p:ph type="subTitle" idx="1"/>
          </p:nvPr>
        </p:nvSpPr>
        <p:spPr/>
        <p:txBody>
          <a:bodyPr/>
          <a:lstStyle/>
          <a:p>
            <a:r>
              <a:rPr lang="es-MX" dirty="0"/>
              <a:t>Módulo 4 – DISEÑO DEL PRODUCTO PARA EMPRENDIMIENTO DIGITAL</a:t>
            </a:r>
          </a:p>
        </p:txBody>
      </p:sp>
    </p:spTree>
    <p:extLst>
      <p:ext uri="{BB962C8B-B14F-4D97-AF65-F5344CB8AC3E}">
        <p14:creationId xmlns:p14="http://schemas.microsoft.com/office/powerpoint/2010/main" val="281290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4B5FDD-0A37-4B49-8AFF-037D143862AC}"/>
              </a:ext>
            </a:extLst>
          </p:cNvPr>
          <p:cNvSpPr>
            <a:spLocks noGrp="1"/>
          </p:cNvSpPr>
          <p:nvPr>
            <p:ph type="title"/>
          </p:nvPr>
        </p:nvSpPr>
        <p:spPr/>
        <p:txBody>
          <a:bodyPr>
            <a:normAutofit/>
          </a:bodyPr>
          <a:lstStyle/>
          <a:p>
            <a:pPr lvl="0"/>
            <a:r>
              <a:rPr lang="es-CL" sz="3600" kern="1200" cap="all" baseline="0" dirty="0">
                <a:solidFill>
                  <a:schemeClr val="tx1"/>
                </a:solidFill>
                <a:effectLst/>
                <a:latin typeface="+mj-lt"/>
                <a:ea typeface="+mj-ea"/>
                <a:cs typeface="+mj-cs"/>
              </a:rPr>
              <a:t>Síntesis de su proceso de aprendizaje personal</a:t>
            </a:r>
            <a:endParaRPr lang="es-CL" dirty="0"/>
          </a:p>
        </p:txBody>
      </p:sp>
      <p:sp>
        <p:nvSpPr>
          <p:cNvPr id="3" name="Marcador de contenido 2">
            <a:extLst>
              <a:ext uri="{FF2B5EF4-FFF2-40B4-BE49-F238E27FC236}">
                <a16:creationId xmlns:a16="http://schemas.microsoft.com/office/drawing/2014/main" id="{FD1A3DFD-F27C-4D10-9131-5E41349C6236}"/>
              </a:ext>
            </a:extLst>
          </p:cNvPr>
          <p:cNvSpPr>
            <a:spLocks noGrp="1"/>
          </p:cNvSpPr>
          <p:nvPr>
            <p:ph idx="1"/>
          </p:nvPr>
        </p:nvSpPr>
        <p:spPr/>
        <p:txBody>
          <a:bodyPr/>
          <a:lstStyle/>
          <a:p>
            <a:r>
              <a:rPr lang="es-MX" dirty="0"/>
              <a:t>Respecto a mi situación previa al</a:t>
            </a:r>
            <a:r>
              <a:rPr lang="es-MX" baseline="0" dirty="0"/>
              <a:t> curso, y en este módulo en particular, puedo decir que si bien no manejaba ninguno de los conceptos expuestos de manera concreta, aplicaba sus principios de manera casi instintiva.  Esta forma de entender los proyectos se fue plasmando poco a poco gracias a la experiencia de años de trabajo.  Sin embargo, he visto que necesitaba mucho conocer la base teórica y herramientas que me hicieran ese trabajo instintivo mucho más fácil, ordenado y eficiente.</a:t>
            </a:r>
            <a:endParaRPr lang="es-CL" dirty="0"/>
          </a:p>
        </p:txBody>
      </p:sp>
    </p:spTree>
    <p:extLst>
      <p:ext uri="{BB962C8B-B14F-4D97-AF65-F5344CB8AC3E}">
        <p14:creationId xmlns:p14="http://schemas.microsoft.com/office/powerpoint/2010/main" val="2261111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A682A4-3248-41DE-B8F3-DD8718A250C9}"/>
              </a:ext>
            </a:extLst>
          </p:cNvPr>
          <p:cNvSpPr>
            <a:spLocks noGrp="1"/>
          </p:cNvSpPr>
          <p:nvPr>
            <p:ph type="title"/>
          </p:nvPr>
        </p:nvSpPr>
        <p:spPr/>
        <p:txBody>
          <a:bodyPr>
            <a:normAutofit/>
          </a:bodyPr>
          <a:lstStyle/>
          <a:p>
            <a:pPr lvl="0"/>
            <a:r>
              <a:rPr lang="es-CL" sz="3600" kern="1200" cap="all" baseline="0" dirty="0">
                <a:solidFill>
                  <a:schemeClr val="tx1"/>
                </a:solidFill>
                <a:effectLst/>
                <a:latin typeface="+mj-lt"/>
                <a:ea typeface="+mj-ea"/>
                <a:cs typeface="+mj-cs"/>
              </a:rPr>
              <a:t>Momentos clave de su proceso de aprendizaje </a:t>
            </a:r>
            <a:endParaRPr lang="es-CL" dirty="0"/>
          </a:p>
        </p:txBody>
      </p:sp>
      <p:sp>
        <p:nvSpPr>
          <p:cNvPr id="3" name="Marcador de contenido 2">
            <a:extLst>
              <a:ext uri="{FF2B5EF4-FFF2-40B4-BE49-F238E27FC236}">
                <a16:creationId xmlns:a16="http://schemas.microsoft.com/office/drawing/2014/main" id="{8A6AB6C3-E930-43AF-AA22-1DE0CEBC92F7}"/>
              </a:ext>
            </a:extLst>
          </p:cNvPr>
          <p:cNvSpPr>
            <a:spLocks noGrp="1"/>
          </p:cNvSpPr>
          <p:nvPr>
            <p:ph idx="1"/>
          </p:nvPr>
        </p:nvSpPr>
        <p:spPr/>
        <p:txBody>
          <a:bodyPr/>
          <a:lstStyle/>
          <a:p>
            <a:r>
              <a:rPr lang="es-MX" dirty="0"/>
              <a:t>Creo que no hubo</a:t>
            </a:r>
            <a:r>
              <a:rPr lang="es-MX" baseline="0" dirty="0"/>
              <a:t> un momento clave en especial.  Prácticamente todas las clases han sido una muy rica experiencia de descubrimientos y aprendizaje.</a:t>
            </a:r>
            <a:endParaRPr lang="es-CL" dirty="0"/>
          </a:p>
        </p:txBody>
      </p:sp>
    </p:spTree>
    <p:extLst>
      <p:ext uri="{BB962C8B-B14F-4D97-AF65-F5344CB8AC3E}">
        <p14:creationId xmlns:p14="http://schemas.microsoft.com/office/powerpoint/2010/main" val="889086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074159-AD5D-422D-84E8-1D247D6DED9A}"/>
              </a:ext>
            </a:extLst>
          </p:cNvPr>
          <p:cNvSpPr>
            <a:spLocks noGrp="1"/>
          </p:cNvSpPr>
          <p:nvPr>
            <p:ph type="title"/>
          </p:nvPr>
        </p:nvSpPr>
        <p:spPr/>
        <p:txBody>
          <a:bodyPr>
            <a:normAutofit fontScale="90000"/>
          </a:bodyPr>
          <a:lstStyle/>
          <a:p>
            <a:pPr lvl="0"/>
            <a:r>
              <a:rPr lang="es-CL" sz="3600" kern="1200" cap="all" baseline="0" dirty="0">
                <a:solidFill>
                  <a:schemeClr val="tx1"/>
                </a:solidFill>
                <a:effectLst/>
                <a:latin typeface="+mj-lt"/>
                <a:ea typeface="+mj-ea"/>
                <a:cs typeface="+mj-cs"/>
              </a:rPr>
              <a:t>Análisis personal de sus habilidades ligadas a su proceso de aprendizaje (antes y después del curso)</a:t>
            </a:r>
            <a:endParaRPr lang="es-CL" dirty="0"/>
          </a:p>
        </p:txBody>
      </p:sp>
      <p:sp>
        <p:nvSpPr>
          <p:cNvPr id="3" name="Marcador de contenido 2">
            <a:extLst>
              <a:ext uri="{FF2B5EF4-FFF2-40B4-BE49-F238E27FC236}">
                <a16:creationId xmlns:a16="http://schemas.microsoft.com/office/drawing/2014/main" id="{A4B625EA-E482-4067-A705-018925BD8A83}"/>
              </a:ext>
            </a:extLst>
          </p:cNvPr>
          <p:cNvSpPr>
            <a:spLocks noGrp="1"/>
          </p:cNvSpPr>
          <p:nvPr>
            <p:ph idx="1"/>
          </p:nvPr>
        </p:nvSpPr>
        <p:spPr/>
        <p:txBody>
          <a:bodyPr/>
          <a:lstStyle/>
          <a:p>
            <a:r>
              <a:rPr lang="es-MX" dirty="0"/>
              <a:t>Creo que la primera habilidad que he ganado gracias</a:t>
            </a:r>
            <a:r>
              <a:rPr lang="es-MX" baseline="0" dirty="0"/>
              <a:t> al curso ha sido la metodología.  Cuando conoces el camino, se hace mucho más fácil recorrerlo que cuando lo vas descubriendo paso a paso.</a:t>
            </a:r>
          </a:p>
          <a:p>
            <a:r>
              <a:rPr lang="es-CL" dirty="0"/>
              <a:t>El</a:t>
            </a:r>
            <a:r>
              <a:rPr lang="es-CL" baseline="0" dirty="0"/>
              <a:t> concepto más importante que he ido aprendiendo a través del curso ha sido el someterse a lo que la evidencia que entregan los usuarios nos dice respecto a las ideas previas.</a:t>
            </a:r>
            <a:endParaRPr lang="es-CL" dirty="0"/>
          </a:p>
        </p:txBody>
      </p:sp>
    </p:spTree>
    <p:extLst>
      <p:ext uri="{BB962C8B-B14F-4D97-AF65-F5344CB8AC3E}">
        <p14:creationId xmlns:p14="http://schemas.microsoft.com/office/powerpoint/2010/main" val="2574167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2A4DA-1E55-458A-897C-205758CC84D3}"/>
              </a:ext>
            </a:extLst>
          </p:cNvPr>
          <p:cNvSpPr>
            <a:spLocks noGrp="1"/>
          </p:cNvSpPr>
          <p:nvPr>
            <p:ph type="title"/>
          </p:nvPr>
        </p:nvSpPr>
        <p:spPr/>
        <p:txBody>
          <a:bodyPr>
            <a:normAutofit/>
          </a:bodyPr>
          <a:lstStyle/>
          <a:p>
            <a:pPr lvl="0"/>
            <a:r>
              <a:rPr lang="es-CL" sz="3600" kern="1200" cap="all" baseline="0" dirty="0">
                <a:solidFill>
                  <a:schemeClr val="tx1"/>
                </a:solidFill>
                <a:effectLst/>
                <a:latin typeface="+mj-lt"/>
                <a:ea typeface="+mj-ea"/>
                <a:cs typeface="+mj-cs"/>
              </a:rPr>
              <a:t>Autocrítica</a:t>
            </a:r>
            <a:endParaRPr lang="es-CL" dirty="0"/>
          </a:p>
        </p:txBody>
      </p:sp>
      <p:sp>
        <p:nvSpPr>
          <p:cNvPr id="3" name="Marcador de contenido 2">
            <a:extLst>
              <a:ext uri="{FF2B5EF4-FFF2-40B4-BE49-F238E27FC236}">
                <a16:creationId xmlns:a16="http://schemas.microsoft.com/office/drawing/2014/main" id="{CD047B91-9481-40FC-AA77-2DE1FD284DFC}"/>
              </a:ext>
            </a:extLst>
          </p:cNvPr>
          <p:cNvSpPr>
            <a:spLocks noGrp="1"/>
          </p:cNvSpPr>
          <p:nvPr>
            <p:ph idx="1"/>
          </p:nvPr>
        </p:nvSpPr>
        <p:spPr/>
        <p:txBody>
          <a:bodyPr/>
          <a:lstStyle/>
          <a:p>
            <a:r>
              <a:rPr lang="es-MX" dirty="0"/>
              <a:t>Cuesta</a:t>
            </a:r>
            <a:r>
              <a:rPr lang="es-MX" baseline="0" dirty="0"/>
              <a:t> mucho ceder cuando uno tiene convicciones firmes.  Una de las mayores dificultades en las que me he visto inmerso ha sido trabajar en equipo, cuando este equipo no sigue los principios y lineamientos que nos entrega la metodología.</a:t>
            </a:r>
            <a:endParaRPr lang="es-CL" dirty="0"/>
          </a:p>
        </p:txBody>
      </p:sp>
    </p:spTree>
    <p:extLst>
      <p:ext uri="{BB962C8B-B14F-4D97-AF65-F5344CB8AC3E}">
        <p14:creationId xmlns:p14="http://schemas.microsoft.com/office/powerpoint/2010/main" val="2672972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B80D52-0AF6-4352-8FBE-6656A49EEFE8}"/>
              </a:ext>
            </a:extLst>
          </p:cNvPr>
          <p:cNvSpPr>
            <a:spLocks noGrp="1"/>
          </p:cNvSpPr>
          <p:nvPr>
            <p:ph type="title"/>
          </p:nvPr>
        </p:nvSpPr>
        <p:spPr/>
        <p:txBody>
          <a:bodyPr/>
          <a:lstStyle/>
          <a:p>
            <a:pPr lvl="0"/>
            <a:r>
              <a:rPr lang="es-CL" sz="3600" kern="1200" cap="all" baseline="0" dirty="0">
                <a:solidFill>
                  <a:schemeClr val="tx1"/>
                </a:solidFill>
                <a:effectLst/>
                <a:latin typeface="+mj-lt"/>
                <a:ea typeface="+mj-ea"/>
                <a:cs typeface="+mj-cs"/>
              </a:rPr>
              <a:t>Reflexión Final</a:t>
            </a:r>
          </a:p>
        </p:txBody>
      </p:sp>
      <p:sp>
        <p:nvSpPr>
          <p:cNvPr id="3" name="Marcador de contenido 2">
            <a:extLst>
              <a:ext uri="{FF2B5EF4-FFF2-40B4-BE49-F238E27FC236}">
                <a16:creationId xmlns:a16="http://schemas.microsoft.com/office/drawing/2014/main" id="{072148B8-B65D-410C-9366-184BC15DA01B}"/>
              </a:ext>
            </a:extLst>
          </p:cNvPr>
          <p:cNvSpPr>
            <a:spLocks noGrp="1"/>
          </p:cNvSpPr>
          <p:nvPr>
            <p:ph idx="1"/>
          </p:nvPr>
        </p:nvSpPr>
        <p:spPr/>
        <p:txBody>
          <a:bodyPr>
            <a:normAutofit fontScale="92500"/>
          </a:bodyPr>
          <a:lstStyle/>
          <a:p>
            <a:r>
              <a:rPr lang="es-MX" dirty="0"/>
              <a:t>Una</a:t>
            </a:r>
            <a:r>
              <a:rPr lang="es-MX" baseline="0" dirty="0"/>
              <a:t> de las mas importantes lecciones que me deja esta metodología tiene que ver con la misma reflexión que me deja el método científico.  El tener claro que la única verdad sagrada es que no hay verdades sagradas. Todo debe someterse a un riguroso estudio, liberado de sesgos y de la necesidad de incluso cambiar los datos para que se ajusten a mis hipótesis, prejuicios o ideas preconcebidas.  Empatizar con el otro es otra de los conceptos importantes, que no tiene que ver con las ideas actuales de “victimizarlo” o endiosarlo, o cualquier otra acción, sino que verlo tal cual como es, aceptarlo y luego trabajar con esa realidad.</a:t>
            </a:r>
            <a:endParaRPr lang="es-CL" dirty="0"/>
          </a:p>
        </p:txBody>
      </p:sp>
    </p:spTree>
    <p:extLst>
      <p:ext uri="{BB962C8B-B14F-4D97-AF65-F5344CB8AC3E}">
        <p14:creationId xmlns:p14="http://schemas.microsoft.com/office/powerpoint/2010/main" val="14332897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TM04033919[[fn=Circuito]]</Template>
  <TotalTime>17</TotalTime>
  <Words>394</Words>
  <Application>Microsoft Office PowerPoint</Application>
  <PresentationFormat>Panorámica</PresentationFormat>
  <Paragraphs>13</Paragraphs>
  <Slides>6</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Tw Cen MT</vt:lpstr>
      <vt:lpstr>Circuito</vt:lpstr>
      <vt:lpstr>Curso de emprendimiento digital </vt:lpstr>
      <vt:lpstr>Síntesis de su proceso de aprendizaje personal</vt:lpstr>
      <vt:lpstr>Momentos clave de su proceso de aprendizaje </vt:lpstr>
      <vt:lpstr>Análisis personal de sus habilidades ligadas a su proceso de aprendizaje (antes y después del curso)</vt:lpstr>
      <vt:lpstr>Autocrítica</vt:lpstr>
      <vt:lpstr>Reflexión Final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de emprendimiento digital </dc:title>
  <dc:creator>Javier Andrés Salgado</dc:creator>
  <cp:lastModifiedBy>Javier Andrés Salgado</cp:lastModifiedBy>
  <cp:revision>1</cp:revision>
  <dcterms:created xsi:type="dcterms:W3CDTF">2021-07-30T15:47:15Z</dcterms:created>
  <dcterms:modified xsi:type="dcterms:W3CDTF">2021-07-30T16:04:21Z</dcterms:modified>
</cp:coreProperties>
</file>